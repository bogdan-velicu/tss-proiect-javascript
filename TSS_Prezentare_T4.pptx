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A1A2E"/>
                </a:solidFill>
                <a:latin typeface="Calibri"/>
              </a:defRPr>
            </a:pPr>
            <a:r>
              <a:t>Testare Unitara in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920240"/>
            <a:ext cx="32004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D6ACF"/>
                </a:solidFill>
                <a:latin typeface="Calibri"/>
              </a:defRPr>
            </a:pPr>
            <a:r>
              <a:t>Tema T4  —  Testarea Sistemelor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B6E"/>
                </a:solidFill>
                <a:latin typeface="Calibri"/>
              </a:defRPr>
            </a:pPr>
            <a:r>
              <a:t>Sistem de Shopping Cart cu Motor de Preturi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57600"/>
            <a:ext cx="45720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49039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Echipa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Bogdan Velicu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Alexandru Satalla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Cristina Diana Savin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Robert Stan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657600"/>
            <a:ext cx="41148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749039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CF"/>
                </a:solidFill>
                <a:latin typeface="Calibri"/>
              </a:defRPr>
            </a:pPr>
            <a:r>
              <a:t>Tehnologii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Node.js v25.8.1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Jest 29.7.0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Stryker Mutator 8.6.0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Git /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Facultatea de Matematica si Informatica  ·  Anul IV, Sem. II  ·  Aprilie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Descriere Proiect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75488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6ACF"/>
                </a:solidFill>
                <a:latin typeface="Calibri"/>
              </a:defRPr>
            </a:pPr>
            <a:r>
              <a:t>Functionalitati testate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ShoppingCart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gestionare cos de cumparaturi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PricingEngine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motor de calcul preturi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Validare input (nume, pret, cantitate, categorie)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Taxe pe categorii (electronics 19%, clothing 9%, food/books 5%)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Transport gratuit peste 200 RON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Cupoane reducere (procentuale, fixe, buy-X-get-Y)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Reduceri pe volum (5+ prod: 2%, 10+: 5%, 20+: 7%, 30+: 10%)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Puncte de fidelitate (bonus la 100/200/500 RON)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Sortare produse, identificare cel mai scump/ieftin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2D6ACF"/>
                </a:solidFill>
                <a:latin typeface="Calibri"/>
              </a:defRPr>
            </a:pPr>
            <a:r>
              <a:t>Sumar proiect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4 fisiere sursa  ·  5 fisiere teste  ·  309 teste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D9B56"/>
                </a:solidFill>
                <a:latin typeface="Calibri"/>
              </a:defRPr>
            </a:pPr>
            <a:r>
              <a:t>   •  100% statement/function/line coverage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90.32% mutation score (Stryker)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097280"/>
            <a:ext cx="649224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_arh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80160"/>
            <a:ext cx="6126480" cy="45922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Partitionare in Clase de Echivalenta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Impartim domeniul de intrare in clase unde toate valorile produc comportament similar. Un reprezentant per clasa.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_clase_echivale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421" y="1463040"/>
            <a:ext cx="681467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Valorilor de Frontiera (BVA)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Testam la limitele exacte ale fiecarui domeniu — sub frontiera, la frontiera, peste frontiera.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_valori_fronti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221" y="1554480"/>
            <a:ext cx="7335078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Instructiune si Decizie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Functions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44/44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1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1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1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213/213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Tests Passed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651760"/>
            <a:ext cx="11430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Istanbul / LCOV Coverage Report</a:t>
            </a:r>
          </a:p>
        </p:txBody>
      </p:sp>
      <p:pic>
        <p:nvPicPr>
          <p:cNvPr id="27" name="Picture 26" descr="lcov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71800"/>
            <a:ext cx="11064240" cy="11887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65760" y="4480560"/>
            <a:ext cx="5029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run test:coverage (terminal)</a:t>
            </a:r>
          </a:p>
        </p:txBody>
      </p:sp>
      <p:pic>
        <p:nvPicPr>
          <p:cNvPr id="30" name="Picture 29" descr="coverage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754880"/>
            <a:ext cx="849085" cy="18288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5577840" y="4480560"/>
            <a:ext cx="62179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test (309 tests passing)</a:t>
            </a:r>
          </a:p>
        </p:txBody>
      </p:sp>
      <p:pic>
        <p:nvPicPr>
          <p:cNvPr id="33" name="Picture 32" descr="test_summary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4754880"/>
            <a:ext cx="143662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Conditie si 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3035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Conditie — calculateShipping()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87E1A"/>
                </a:solidFill>
                <a:latin typeface="Consolas"/>
              </a:defRPr>
            </a:pPr>
            <a:r>
              <a:t>Conditie: shippingType === 'standard' &amp;&amp; subtotal &gt;= 200</a:t>
            </a:r>
          </a:p>
          <a:p>
            <a:pPr algn="l">
              <a:spcAft>
                <a:spcPts val="100"/>
              </a:spcAft>
              <a:defRPr sz="1000" b="1">
                <a:solidFill>
                  <a:srgbClr val="6F42C1"/>
                </a:solidFill>
                <a:latin typeface="Consolas"/>
              </a:defRPr>
            </a:pPr>
            <a:r>
              <a:t>  Test  C1 (standard?)  C2 (&gt;=200?)  Rezultat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T1    TRUE            TRUE         Gratuit (0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T2    TRUE            FALSE        Standard (15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T3    FALSE           TRUE         Express (30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T4    FALSE           FALSE        Express (30 RON)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023360"/>
            <a:ext cx="53035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Cale — addItem()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E87E1A"/>
                </a:solidFill>
                <a:latin typeface="Calibri"/>
              </a:defRPr>
            </a:pPr>
            <a:r>
              <a:t>Complexitate ciclomatica: V(G) = 5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P1:</a:t>
            </a:r>
            <a:r>
              <a:rPr sz="1200" b="0">
                <a:solidFill>
                  <a:srgbClr val="555B6E"/>
                </a:solidFill>
                <a:latin typeface="Calibri"/>
              </a:rPr>
              <a:t> Validare → Eroare (input invalid)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P2:</a:t>
            </a:r>
            <a:r>
              <a:rPr sz="1200" b="0">
                <a:solidFill>
                  <a:srgbClr val="555B6E"/>
                </a:solidFill>
                <a:latin typeface="Calibri"/>
              </a:rPr>
              <a:t> Capacitate → Eroare (cos plin)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P3: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existent, cantitate depasita → Eroare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P4: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 → Actualizare cantitate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P5: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nou → Adaugare in 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097280"/>
            <a:ext cx="603504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_cfg_add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34440"/>
            <a:ext cx="471727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Mutation Testing cu Stryker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Stryker modifica codul sursa (mutanti) si verifica daca testele detecteaza schimbarile.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0292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3545"/>
                </a:solidFill>
                <a:latin typeface="Calibri"/>
              </a:defRPr>
            </a:pPr>
            <a:r>
              <a:t>Tipuri de mutatii aplicate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Aritmetice: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+→-,  *→/,  /→*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Comparatie: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&gt;=→&gt;,  ===→!==,  &lt;→&lt;=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Logice: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&amp;&amp;→||,  ||→&amp;&amp;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Eliminare:</a:t>
            </a:r>
            <a:r>
              <a:rPr sz="1200" b="0">
                <a:solidFill>
                  <a:srgbClr val="555B6E"/>
                </a:solidFill>
                <a:latin typeface="Calibri"/>
              </a:rPr>
              <a:t>  stergere instructiuni/blocuri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Booleene:</a:t>
            </a:r>
            <a:r>
              <a:rPr sz="1200" b="0">
                <a:solidFill>
                  <a:srgbClr val="555B6E"/>
                </a:solidFill>
                <a:latin typeface="Calibri"/>
              </a:rPr>
              <a:t>  true→false, inversare conditii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DC3545"/>
                </a:solidFill>
                <a:latin typeface="Calibri"/>
              </a:defRPr>
            </a:pPr>
            <a:r>
              <a:t>Rezultate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DC3545"/>
                </a:solidFill>
                <a:latin typeface="Consolas"/>
              </a:defRPr>
            </a:pPr>
            <a:r>
              <a:t>  Fisier                  Scor  Killed  Survived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validators.js         96.88%      93         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ShoppingCart.js       92.66%     164        12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PricingEngine.js      86.78%     254        39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1D9B56"/>
                </a:solidFill>
                <a:latin typeface="Consolas"/>
              </a:defRPr>
            </a:pPr>
            <a:r>
              <a:t>  TOTAL                 90.32%     511        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30936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Stryker Mutation Report (HTML)</a:t>
            </a:r>
          </a:p>
        </p:txBody>
      </p:sp>
      <p:pic>
        <p:nvPicPr>
          <p:cNvPr id="10" name="Picture 9" descr="mutation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737360"/>
            <a:ext cx="5943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Mutantilor Supravietuitori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#1 — Operator logic ( || → &amp;&amp; 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if (!Array.isArray(items) || items.length === 0)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if (!Array.isArray(items) &amp;&amp; items.length === 0)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Toate testele trimit array-uri valide.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Mutatia afecteaza doar cazul cand input-ul nu e array.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D9B56"/>
                </a:solidFill>
                <a:latin typeface="Calibri"/>
              </a:rPr>
              <a:t>Solutie: </a:t>
            </a:r>
            <a:r>
              <a:rPr sz="1100" b="0">
                <a:solidFill>
                  <a:srgbClr val="1D9B56"/>
                </a:solidFill>
                <a:latin typeface="Calibri"/>
              </a:rPr>
              <a:t>Test cu applyBuyXGetYFree(null, 2,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#2 — Valoare default string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calculateItemTax(price, qty, cat = 'default')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calculateItemTax(price, qty, cat = "")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"" este falsy in JavaScript.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TAX_RATES[""] = undefined, iar fallback-ul 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E87E1A"/>
                </a:solidFill>
                <a:latin typeface="Calibri"/>
              </a:rPr>
              <a:t>|| TAX_RATES.default</a:t>
            </a:r>
            <a:r>
              <a:rPr sz="1100" b="0">
                <a:solidFill>
                  <a:srgbClr val="555B6E"/>
                </a:solidFill>
                <a:latin typeface="Calibri"/>
              </a:rPr>
              <a:t> produce acelasi rezultat.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87E1A"/>
                </a:solidFill>
                <a:latin typeface="Calibri"/>
              </a:defRPr>
            </a:pPr>
            <a:r>
              <a:t>Concluzie: MUTANT ECHIVALENT (nu poate fi omorat)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297680"/>
            <a:ext cx="115214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Strategia de analiza si omorare a mutantilor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1.</a:t>
            </a:r>
            <a:r>
              <a:rPr sz="1200" b="0">
                <a:solidFill>
                  <a:srgbClr val="555B6E"/>
                </a:solidFill>
                <a:latin typeface="Calibri"/>
              </a:rPr>
              <a:t> Rulam Stryker (npm run mutate) si analizam raportul HTML generat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2.</a:t>
            </a:r>
            <a:r>
              <a:rPr sz="1200" b="0">
                <a:solidFill>
                  <a:srgbClr val="555B6E"/>
                </a:solidFill>
                <a:latin typeface="Calibri"/>
              </a:rPr>
              <a:t> Identificam mutantii supravietuitori si examinam codul mutat exact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3.</a:t>
            </a:r>
            <a:r>
              <a:rPr sz="1200" b="0">
                <a:solidFill>
                  <a:srgbClr val="555B6E"/>
                </a:solidFill>
                <a:latin typeface="Calibri"/>
              </a:rPr>
              <a:t> Determinam daca mutantul e echivalent (comportament identic cu originalul) sau nu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4.</a:t>
            </a:r>
            <a:r>
              <a:rPr sz="1200" b="0">
                <a:solidFill>
                  <a:srgbClr val="555B6E"/>
                </a:solidFill>
                <a:latin typeface="Calibri"/>
              </a:rPr>
              <a:t> Pentru mutantii neechivalenti: scriem teste targetate care detecteaza mutatia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5.</a:t>
            </a:r>
            <a:r>
              <a:rPr sz="1200" b="0">
                <a:solidFill>
                  <a:srgbClr val="555B6E"/>
                </a:solidFill>
                <a:latin typeface="Calibri"/>
              </a:rPr>
              <a:t> Verificam ca testul nou omoara mutantul la urmatoarea rulare Stryker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Comparatie: Teste Proprii vs Teste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114300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6ACF"/>
                </a:solidFill>
                <a:latin typeface="Consolas"/>
              </a:defRPr>
            </a:pPr>
            <a:r>
              <a:t>  Metrica                             Teste Proprii     Teste AI (ChatGPT)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DEE2E6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Total teste                                   309                    ~85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Fisiere de test                                 5                      2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Strategii acoperite              5 (EP,BVA,CC,PC,MT)           1 (generala)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Statement coverage                           100%                    94%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Branch coverage                            98.91%                    78%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Function coverage                            100%                   100%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Mutation score                             90.32%                   ~72%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Organizare pe strategii                        DA                     NU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Teste mutation-killing                         DA                     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572000"/>
            <a:ext cx="5577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9B56"/>
                </a:solidFill>
                <a:latin typeface="Calibri"/>
              </a:defRPr>
            </a:pPr>
            <a:r>
              <a:t>Avantaje teste proprii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Organizare clara pe 5 strategii de testare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Acoperire sistematica a conditiilor compuse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Teste targetate pentru mutation testing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Documentatie si comentarii explicative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572000"/>
            <a:ext cx="5669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6ACF"/>
                </a:solidFill>
                <a:latin typeface="Calibri"/>
              </a:defRPr>
            </a:pPr>
            <a:r>
              <a:t>Avantaje teste AI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Viteza de generare (~85 teste in cateva secunde)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Acoperire initiala buna fara efort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Descoperire rapida a cazurilor de baza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Util ca punct de plecare pentru teste manuale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Concluzii si Rezultate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D9B5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C3545"/>
                </a:solidFill>
                <a:latin typeface="Calibri"/>
              </a:defRPr>
            </a:pPr>
            <a:r>
              <a:t>90.32%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mutation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511/568 killed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514600"/>
            <a:ext cx="7772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06040"/>
            <a:ext cx="7315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Ce am invatat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Partitionarea in clase de echivalenta reduce numarul de teste pastrand acoperirea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Analiza valorilor de frontiera detecteaza erori off-by-one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Acoperirea la nivel de conditie e mai puternica decat cea de decizie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Mutation testing valideaza calitatea testelor, nu doar cantitatea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Testele AI sunt utile ca punct de plecare, dar necesita rafinare manuala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Un scor de mutatie &gt;90% indica o suita de teste de calitate ridicata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0C9D8A"/>
                </a:solidFill>
                <a:latin typeface="Calibri"/>
              </a:defRPr>
            </a:pPr>
            <a:r>
              <a:t>Referinte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[1] Jest Documentation — jestjs.io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[2] Stryker Mutator — stryker-mutator.io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[3] Aniche, M. — Effective Software Testing (2022)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[4] Khorikov, V. — Unit Testing Principles, Practices, and Patterns (2020)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25146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2560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GitHub Commits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