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6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Testare Unitara in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3200400" cy="50800"/>
          </a:xfrm>
          <a:prstGeom prst="rect">
            <a:avLst/>
          </a:prstGeom>
          <a:solidFill>
            <a:srgbClr val="0C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6ACF"/>
                </a:solidFill>
                <a:latin typeface="Calibri"/>
              </a:defRPr>
            </a:pPr>
            <a:r>
              <a:t>Tema T4  —  Testarea Sistemelor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B6E"/>
                </a:solidFill>
                <a:latin typeface="Calibri"/>
              </a:defRPr>
            </a:pPr>
            <a:r>
              <a:t>Sistem de Shopping Cart cu Motor de Preturi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4572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9D8A"/>
                </a:solidFill>
                <a:latin typeface="Calibri"/>
              </a:defRPr>
            </a:pPr>
            <a:r>
              <a:t>Echipa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Bogdan Velicu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Alexandru Satalla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Cristina Diana Savin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Robert Stan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65760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6ACF"/>
                </a:solidFill>
                <a:latin typeface="Calibri"/>
              </a:defRPr>
            </a:pPr>
            <a:r>
              <a:t>Tehnologii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Node.js v25.8.1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Jest 29.7.0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Stryker Mutator 8.6.0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555B6E"/>
                </a:solidFill>
                <a:latin typeface="Calibri"/>
              </a:defRPr>
            </a:pPr>
            <a:r>
              <a:t>   Git /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0"/>
                </a:solidFill>
                <a:latin typeface="Calibri"/>
              </a:defRPr>
            </a:pPr>
            <a:r>
              <a:t>Facultatea de Matematica si Informatica  ·  Anul IV, Sem. II  ·  Aprilie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D6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Descriere Proiect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2D6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75488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ACF"/>
                </a:solidFill>
                <a:latin typeface="Calibri"/>
              </a:defRPr>
            </a:pPr>
            <a:r>
              <a:t>Functionalitati testate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D6ACF"/>
                </a:solidFill>
                <a:latin typeface="Calibri"/>
              </a:rPr>
              <a:t>   ShoppingCart</a:t>
            </a:r>
            <a:r>
              <a:rPr sz="1300" b="0">
                <a:solidFill>
                  <a:srgbClr val="555B6E"/>
                </a:solidFill>
                <a:latin typeface="Calibri"/>
              </a:rPr>
              <a:t> — gestionare cos de cumparaturi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D6ACF"/>
                </a:solidFill>
                <a:latin typeface="Calibri"/>
              </a:rPr>
              <a:t>   PricingEngine</a:t>
            </a:r>
            <a:r>
              <a:rPr sz="1300" b="0">
                <a:solidFill>
                  <a:srgbClr val="555B6E"/>
                </a:solidFill>
                <a:latin typeface="Calibri"/>
              </a:rPr>
              <a:t> — motor de calcul preturi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Validare input (nume, pret, cantitate, categorie)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Taxe pe categorii (electronics 19%, clothing 9%, food/books 5%)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Transport gratuit peste 200 RON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Cupoane reducere (procentuale, fixe, buy-X-get-Y)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Reduceri pe volum (5+ prod: 2%, 10+: 5%, 20+: 7%, 30+: 10%)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Puncte de fidelitate (bonus la 100/200/500 RON)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Sortare produse, identificare cel mai scump/ieftin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2D6ACF"/>
                </a:solidFill>
                <a:latin typeface="Calibri"/>
              </a:defRPr>
            </a:pPr>
            <a:r>
              <a:t>Sumar proiect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4 fisiere sursa  ·  5 fisiere teste  ·  309 teste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9B56"/>
                </a:solidFill>
                <a:latin typeface="Calibri"/>
              </a:defRPr>
            </a:pPr>
            <a:r>
              <a:t>   •  100% statement/function/line coverage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 •  90.32% mutation score (Stryker)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097280"/>
            <a:ext cx="649224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_arh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80160"/>
            <a:ext cx="6126480" cy="4592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D9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Partitionare in Clase de Echivalenta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1D9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94A0"/>
                </a:solidFill>
                <a:latin typeface="Calibri"/>
              </a:defRPr>
            </a:pPr>
            <a:r>
              <a:t>Principiu: Impartim domeniul de intrare in clase unde toate valorile produc comportament similar. Un reprezentant per clasa.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6128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_clase_echival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421" y="1463040"/>
            <a:ext cx="681467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E87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Analiza Valorilor de Frontiera (BVA)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E87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94A0"/>
                </a:solidFill>
                <a:latin typeface="Calibri"/>
              </a:defRPr>
            </a:pPr>
            <a:r>
              <a:t>Principiu: Testam la limitele exacte ale fiecarui domeniu — sub frontiera, la frontiera, peste frontiera.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6128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_valori_fronti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221" y="1554480"/>
            <a:ext cx="733507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Acoperire Instructiune si Decizie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0C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1488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C9D8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224/224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097280"/>
            <a:ext cx="21488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1887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E1A"/>
                </a:solidFill>
                <a:latin typeface="Calibri"/>
              </a:defRPr>
            </a:pPr>
            <a:r>
              <a:t>98.91%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Branches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9659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182/184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097280"/>
            <a:ext cx="21488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1887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C9D8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659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44/44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097280"/>
            <a:ext cx="21488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11887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C9D8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19659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213/213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097280"/>
            <a:ext cx="21488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1887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C9D8A"/>
                </a:solidFill>
                <a:latin typeface="Calibri"/>
              </a:defRPr>
            </a:pPr>
            <a:r>
              <a:t>309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Tests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9659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5 suites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51760"/>
            <a:ext cx="11430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0"/>
                </a:solidFill>
                <a:latin typeface="Calibri"/>
              </a:defRPr>
            </a:pPr>
            <a:r>
              <a:t>Istanbul / LCOV Coverage Report</a:t>
            </a:r>
          </a:p>
        </p:txBody>
      </p:sp>
      <p:pic>
        <p:nvPicPr>
          <p:cNvPr id="27" name="Picture 26" descr="lcov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11064240" cy="11887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65760" y="4480560"/>
            <a:ext cx="5029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0"/>
                </a:solidFill>
                <a:latin typeface="Calibri"/>
              </a:defRPr>
            </a:pPr>
            <a:r>
              <a:t>npm run test:coverage (terminal)</a:t>
            </a:r>
          </a:p>
        </p:txBody>
      </p:sp>
      <p:pic>
        <p:nvPicPr>
          <p:cNvPr id="30" name="Picture 29" descr="coverage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754880"/>
            <a:ext cx="849085" cy="18288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577840" y="4480560"/>
            <a:ext cx="62179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0"/>
                </a:solidFill>
                <a:latin typeface="Calibri"/>
              </a:defRPr>
            </a:pPr>
            <a:r>
              <a:t>npm test (309 tests passing)</a:t>
            </a:r>
          </a:p>
        </p:txBody>
      </p:sp>
      <p:pic>
        <p:nvPicPr>
          <p:cNvPr id="33" name="Picture 32" descr="test_summary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4754880"/>
            <a:ext cx="143662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Acoperire Conditie si 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F42C1"/>
                </a:solidFill>
                <a:latin typeface="Calibri"/>
              </a:defRPr>
            </a:pPr>
            <a:r>
              <a:t>Acoperire Conditie — calculateShipping()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E87E1A"/>
                </a:solidFill>
                <a:latin typeface="Consolas"/>
              </a:defRPr>
            </a:pPr>
            <a:r>
              <a:t>Conditie: shippingType === 'standard' &amp;&amp; subtotal &gt;= 200</a:t>
            </a:r>
          </a:p>
          <a:p>
            <a:pPr algn="l">
              <a:spcAft>
                <a:spcPts val="100"/>
              </a:spcAft>
              <a:defRPr sz="1000" b="1">
                <a:solidFill>
                  <a:srgbClr val="6F42C1"/>
                </a:solidFill>
                <a:latin typeface="Consolas"/>
              </a:defRPr>
            </a:pPr>
            <a:r>
              <a:t>  Test  C1 (standard?)  C2 (&gt;=200?)  Rezultat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555B6E"/>
                </a:solidFill>
                <a:latin typeface="Consolas"/>
              </a:defRPr>
            </a:pPr>
            <a:r>
              <a:t>  T1    TRUE            TRUE         Gratuit (0 RON)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555B6E"/>
                </a:solidFill>
                <a:latin typeface="Consolas"/>
              </a:defRPr>
            </a:pPr>
            <a:r>
              <a:t>  T2    TRUE            FALSE        Standard (15 RON)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555B6E"/>
                </a:solidFill>
                <a:latin typeface="Consolas"/>
              </a:defRPr>
            </a:pPr>
            <a:r>
              <a:t>  T3    FALSE           TRUE         Express (30 RON)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555B6E"/>
                </a:solidFill>
                <a:latin typeface="Consolas"/>
              </a:defRPr>
            </a:pPr>
            <a:r>
              <a:t>  T4    FALSE           FALSE        Express (30 RON)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023360"/>
            <a:ext cx="53035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F42C1"/>
                </a:solidFill>
                <a:latin typeface="Calibri"/>
              </a:defRPr>
            </a:pPr>
            <a:r>
              <a:t>Acoperire Cale — addItem()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E87E1A"/>
                </a:solidFill>
                <a:latin typeface="Calibri"/>
              </a:defRPr>
            </a:pPr>
            <a:r>
              <a:t>Complexitate ciclomatica: V(G) = 5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P1:</a:t>
            </a:r>
            <a:r>
              <a:rPr sz="1200" b="0">
                <a:solidFill>
                  <a:srgbClr val="555B6E"/>
                </a:solidFill>
                <a:latin typeface="Calibri"/>
              </a:rPr>
              <a:t> Validare → Eroare (input invalid)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P2:</a:t>
            </a:r>
            <a:r>
              <a:rPr sz="1200" b="0">
                <a:solidFill>
                  <a:srgbClr val="555B6E"/>
                </a:solidFill>
                <a:latin typeface="Calibri"/>
              </a:rPr>
              <a:t> Capacitate → Eroare (cos plin)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P3:</a:t>
            </a:r>
            <a:r>
              <a:rPr sz="1200" b="0">
                <a:solidFill>
                  <a:srgbClr val="555B6E"/>
                </a:solidFill>
                <a:latin typeface="Calibri"/>
              </a:rPr>
              <a:t> Produs existent, cantitate depasita → Eroare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D9B56"/>
                </a:solidFill>
                <a:latin typeface="Calibri"/>
              </a:rPr>
              <a:t>   P4:</a:t>
            </a:r>
            <a:r>
              <a:rPr sz="1200" b="0">
                <a:solidFill>
                  <a:srgbClr val="555B6E"/>
                </a:solidFill>
                <a:latin typeface="Calibri"/>
              </a:rPr>
              <a:t> Produs existent → Actualizare cantitate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D9B56"/>
                </a:solidFill>
                <a:latin typeface="Calibri"/>
              </a:rPr>
              <a:t>   P5:</a:t>
            </a:r>
            <a:r>
              <a:rPr sz="1200" b="0">
                <a:solidFill>
                  <a:srgbClr val="555B6E"/>
                </a:solidFill>
                <a:latin typeface="Calibri"/>
              </a:rPr>
              <a:t> Produs nou → Adaugare in 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097280"/>
            <a:ext cx="603504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_cfg_addI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471727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Mutation Testing cu Stryker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94A0"/>
                </a:solidFill>
                <a:latin typeface="Calibri"/>
              </a:defRPr>
            </a:pPr>
            <a:r>
              <a:t>Stryker modifica codul sursa (mutanti) si verifica daca testele detecteaza schimbarile.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029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3545"/>
                </a:solidFill>
                <a:latin typeface="Calibri"/>
              </a:defRPr>
            </a:pPr>
            <a:r>
              <a:t>Tipuri de mutatii aplicate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Aritmetice:</a:t>
            </a:r>
            <a:r>
              <a:rPr sz="1200" b="0">
                <a:solidFill>
                  <a:srgbClr val="555B6E"/>
                </a:solidFill>
                <a:latin typeface="Calibri"/>
              </a:rPr>
              <a:t>  +→-,  *→/,  /→*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Comparatie:</a:t>
            </a:r>
            <a:r>
              <a:rPr sz="1200" b="0">
                <a:solidFill>
                  <a:srgbClr val="555B6E"/>
                </a:solidFill>
                <a:latin typeface="Calibri"/>
              </a:rPr>
              <a:t>  &gt;=→&gt;,  ===→!==,  &lt;→&lt;=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Logice:</a:t>
            </a:r>
            <a:r>
              <a:rPr sz="1200" b="0">
                <a:solidFill>
                  <a:srgbClr val="555B6E"/>
                </a:solidFill>
                <a:latin typeface="Calibri"/>
              </a:rPr>
              <a:t>  &amp;&amp;→||,  ||→&amp;&amp;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Eliminare:</a:t>
            </a:r>
            <a:r>
              <a:rPr sz="1200" b="0">
                <a:solidFill>
                  <a:srgbClr val="555B6E"/>
                </a:solidFill>
                <a:latin typeface="Calibri"/>
              </a:rPr>
              <a:t>  stergere instructiuni/blocuri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DC3545"/>
                </a:solidFill>
                <a:latin typeface="Calibri"/>
              </a:rPr>
              <a:t>   Booleene:</a:t>
            </a:r>
            <a:r>
              <a:rPr sz="1200" b="0">
                <a:solidFill>
                  <a:srgbClr val="555B6E"/>
                </a:solidFill>
                <a:latin typeface="Calibri"/>
              </a:rPr>
              <a:t>  true→false, inversare conditii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DC3545"/>
                </a:solidFill>
                <a:latin typeface="Calibri"/>
              </a:defRPr>
            </a:pPr>
            <a:r>
              <a:t>Rezultate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DC3545"/>
                </a:solidFill>
                <a:latin typeface="Consolas"/>
              </a:defRPr>
            </a:pPr>
            <a:r>
              <a:t>  Fisier                  Scor  Killed  Survived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validators.js         96.88%      93         3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ShoppingCart.js       92.66%     164        12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PricingEngine.js      86.78%     254        39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1D9B56"/>
                </a:solidFill>
                <a:latin typeface="Consolas"/>
              </a:defRPr>
            </a:pPr>
            <a:r>
              <a:t>  TOTAL                 90.32%     511       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6309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417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0"/>
                </a:solidFill>
                <a:latin typeface="Calibri"/>
              </a:defRPr>
            </a:pPr>
            <a:r>
              <a:t>Stryker Mutation Report (HTML)</a:t>
            </a:r>
          </a:p>
        </p:txBody>
      </p:sp>
      <p:pic>
        <p:nvPicPr>
          <p:cNvPr id="10" name="Picture 9" descr="mutation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59436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E87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Analiza Mutantilor Supravietuitori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E87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7E1A"/>
                </a:solidFill>
                <a:latin typeface="Calibri"/>
              </a:defRPr>
            </a:pPr>
            <a:r>
              <a:t>Mutant #1 — Operator logic ( || → &amp;&amp; 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onsolas"/>
              </a:defRPr>
            </a:pPr>
            <a:r>
              <a:t>// Original: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9B56"/>
                </a:solidFill>
                <a:latin typeface="Consolas"/>
              </a:defRPr>
            </a:pPr>
            <a:r>
              <a:t>if (!Array.isArray(items) || items.length === 0)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onsolas"/>
              </a:defRPr>
            </a:pPr>
            <a:r>
              <a:t>// Mutant: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DC3545"/>
                </a:solidFill>
                <a:latin typeface="Consolas"/>
              </a:defRPr>
            </a:pPr>
            <a:r>
              <a:t>if (!Array.isArray(items) &amp;&amp; items.length === 0)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1A2E"/>
                </a:solidFill>
                <a:latin typeface="Calibri"/>
              </a:rPr>
              <a:t>De ce a supravietuit: </a:t>
            </a:r>
            <a:r>
              <a:rPr sz="1100" b="0">
                <a:solidFill>
                  <a:srgbClr val="555B6E"/>
                </a:solidFill>
                <a:latin typeface="Calibri"/>
              </a:rPr>
              <a:t>Toate testele trimit array-uri valide.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55B6E"/>
                </a:solidFill>
                <a:latin typeface="Calibri"/>
              </a:rPr>
              <a:t>Mutatia afecteaza doar cazul cand input-ul nu e array.</a:t>
            </a:r>
          </a:p>
          <a:p>
            <a:pPr algn="l">
              <a:spcAft>
                <a:spcPts val="300"/>
              </a:spcAft>
              <a:defRPr sz="2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D9B56"/>
                </a:solidFill>
                <a:latin typeface="Calibri"/>
              </a:rPr>
              <a:t>Solutie: </a:t>
            </a:r>
            <a:r>
              <a:rPr sz="1100" b="0">
                <a:solidFill>
                  <a:srgbClr val="1D9B56"/>
                </a:solidFill>
                <a:latin typeface="Calibri"/>
              </a:rPr>
              <a:t>Test cu applyBuyXGetYFree(null, 2,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7E1A"/>
                </a:solidFill>
                <a:latin typeface="Calibri"/>
              </a:defRPr>
            </a:pPr>
            <a:r>
              <a:t>Mutant #2 — Valoare default string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onsolas"/>
              </a:defRPr>
            </a:pPr>
            <a:r>
              <a:t>// Original: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9B56"/>
                </a:solidFill>
                <a:latin typeface="Consolas"/>
              </a:defRPr>
            </a:pPr>
            <a:r>
              <a:t>calculateItemTax(price, qty, cat = 'default')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onsolas"/>
              </a:defRPr>
            </a:pPr>
            <a:r>
              <a:t>// Mutant: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DC3545"/>
                </a:solidFill>
                <a:latin typeface="Consolas"/>
              </a:defRPr>
            </a:pPr>
            <a:r>
              <a:t>calculateItemTax(price, qty, cat = "")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1A2E"/>
                </a:solidFill>
                <a:latin typeface="Calibri"/>
              </a:rPr>
              <a:t>De ce a supravietuit: </a:t>
            </a:r>
            <a:r>
              <a:rPr sz="1100" b="0">
                <a:solidFill>
                  <a:srgbClr val="555B6E"/>
                </a:solidFill>
                <a:latin typeface="Calibri"/>
              </a:rPr>
              <a:t>"" este falsy in JavaScript.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55B6E"/>
                </a:solidFill>
                <a:latin typeface="Calibri"/>
              </a:rPr>
              <a:t>TAX_RATES[""] = undefined, iar fallback-ul 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87E1A"/>
                </a:solidFill>
                <a:latin typeface="Calibri"/>
              </a:rPr>
              <a:t>|| TAX_RATES.default</a:t>
            </a:r>
            <a:r>
              <a:rPr sz="1100" b="0">
                <a:solidFill>
                  <a:srgbClr val="555B6E"/>
                </a:solidFill>
                <a:latin typeface="Calibri"/>
              </a:rPr>
              <a:t> produce acelasi rezultat.</a:t>
            </a:r>
          </a:p>
          <a:p>
            <a:pPr algn="l">
              <a:spcAft>
                <a:spcPts val="300"/>
              </a:spcAft>
              <a:defRPr sz="2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1">
                <a:solidFill>
                  <a:srgbClr val="E87E1A"/>
                </a:solidFill>
                <a:latin typeface="Calibri"/>
              </a:defRPr>
            </a:pPr>
            <a:r>
              <a:t>Concluzie: MUTANT ECHIVALENT (nu poate fi omorat)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97680"/>
            <a:ext cx="11521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9D8A"/>
                </a:solidFill>
                <a:latin typeface="Calibri"/>
              </a:defRPr>
            </a:pPr>
            <a:r>
              <a:t>Strategia de analiza si omorare a mutantilor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C9D8A"/>
                </a:solidFill>
                <a:latin typeface="Calibri"/>
              </a:rPr>
              <a:t>1.</a:t>
            </a:r>
            <a:r>
              <a:rPr sz="1200" b="0">
                <a:solidFill>
                  <a:srgbClr val="555B6E"/>
                </a:solidFill>
                <a:latin typeface="Calibri"/>
              </a:rPr>
              <a:t> Rulam Stryker (npm run mutate) si analizam raportul HTML generat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C9D8A"/>
                </a:solidFill>
                <a:latin typeface="Calibri"/>
              </a:rPr>
              <a:t>2.</a:t>
            </a:r>
            <a:r>
              <a:rPr sz="1200" b="0">
                <a:solidFill>
                  <a:srgbClr val="555B6E"/>
                </a:solidFill>
                <a:latin typeface="Calibri"/>
              </a:rPr>
              <a:t> Identificam mutantii supravietuitori si examinam codul mutat exact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C9D8A"/>
                </a:solidFill>
                <a:latin typeface="Calibri"/>
              </a:rPr>
              <a:t>3.</a:t>
            </a:r>
            <a:r>
              <a:rPr sz="1200" b="0">
                <a:solidFill>
                  <a:srgbClr val="555B6E"/>
                </a:solidFill>
                <a:latin typeface="Calibri"/>
              </a:rPr>
              <a:t> Determinam daca mutantul e echivalent (comportament identic cu originalul) sau nu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C9D8A"/>
                </a:solidFill>
                <a:latin typeface="Calibri"/>
              </a:rPr>
              <a:t>4.</a:t>
            </a:r>
            <a:r>
              <a:rPr sz="1200" b="0">
                <a:solidFill>
                  <a:srgbClr val="555B6E"/>
                </a:solidFill>
                <a:latin typeface="Calibri"/>
              </a:rPr>
              <a:t> Pentru mutantii neechivalenti: scriem teste targetate care detecteaza mutatia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C9D8A"/>
                </a:solidFill>
                <a:latin typeface="Calibri"/>
              </a:rPr>
              <a:t>5.</a:t>
            </a:r>
            <a:r>
              <a:rPr sz="1200" b="0">
                <a:solidFill>
                  <a:srgbClr val="555B6E"/>
                </a:solidFill>
                <a:latin typeface="Calibri"/>
              </a:rPr>
              <a:t> Verificam ca testul nou omoara mutantul la urmatoarea rulare Stryker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D6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Comparatie: Teste Proprii vs Teste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2D6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6ACF"/>
                </a:solidFill>
                <a:latin typeface="Consolas"/>
              </a:defRPr>
            </a:pPr>
            <a:r>
              <a:t>  Metrica                          Proprii    AI generic    AI tintit (5 prompturi, 3 platforme)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DEE2E6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Total teste                          309           113                       45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Teste care trec                      309/309       113/113                   45/45 (100%)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Strategii acoperite       5 (EP,BVA,CC,PC,MT)        1 (generala)         5 (EP,BVA,SC/BC,MC/DC,MT)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Platforme AI                          —           ChatGPT             ChatGPT + Gemini + Claude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Statement coverage                  100%             94%                     (overlap suite)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Branch coverage                   98.91%             78%                     (overlap suite)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Mutation score                    90.32%             ~72%                     +tinta pe mutanti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Mapare test → metodologie            DA               NU                            DA (per describe)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555B6E"/>
                </a:solidFill>
                <a:latin typeface="Consolas"/>
              </a:defRPr>
            </a:pPr>
            <a:r>
              <a:t>  Foloseste sursa direct               DA               DA                                NU (doar specificatia)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57200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B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9B56"/>
                </a:solidFill>
                <a:latin typeface="Calibri"/>
              </a:defRPr>
            </a:pPr>
            <a:r>
              <a:t>Avantaje teste proprii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Organizare clara pe 5 strategii de testare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Acoperire sistematica a conditiilor compuse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Teste targetate pentru mutation testing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Documentatie si comentarii explicative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572000"/>
            <a:ext cx="5669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ACF"/>
                </a:solidFill>
                <a:latin typeface="Calibri"/>
              </a:defRPr>
            </a:pPr>
            <a:r>
              <a:t>Prompt generic vs prompturi tintite multi-platforma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Generic: 113 teste, 100% trec (ChatGPT, vede sursa)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Tintit: 45 teste cu intentie metodologica explicita, 3 platforme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100% trec dupa iteratia 2 (prompturi mai detaliate)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555B6E"/>
                </a:solidFill>
                <a:latin typeface="Calibri"/>
              </a:defRPr>
            </a:pPr>
            <a:r>
              <a:t>  ✓  Iter 1 → 67% (halucinatii API), Iter 2 → 100% (constante + semnaturi inline)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Concluzii si Rezultate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2286000" cy="50800"/>
          </a:xfrm>
          <a:prstGeom prst="rect">
            <a:avLst/>
          </a:prstGeom>
          <a:solidFill>
            <a:srgbClr val="0C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697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C9D8A"/>
                </a:solidFill>
                <a:latin typeface="Calibri"/>
              </a:defRPr>
            </a:pPr>
            <a:r>
              <a:t>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teste unitare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5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51560"/>
            <a:ext cx="2697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9B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97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D9B5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002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19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224/224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51560"/>
            <a:ext cx="2697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E1A"/>
                </a:solidFill>
                <a:latin typeface="Calibri"/>
              </a:defRPr>
            </a:pPr>
            <a:r>
              <a:t>98.91%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branches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182/184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051560"/>
            <a:ext cx="26974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0972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C3545"/>
                </a:solidFill>
                <a:latin typeface="Calibri"/>
              </a:defRPr>
            </a:pPr>
            <a:r>
              <a:t>90.32%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6002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mutation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874519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4A0"/>
                </a:solidFill>
                <a:latin typeface="Calibri"/>
              </a:defRPr>
            </a:pPr>
            <a:r>
              <a:t>511/568 killed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514600"/>
            <a:ext cx="7772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06040"/>
            <a:ext cx="7315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9D8A"/>
                </a:solidFill>
                <a:latin typeface="Calibri"/>
              </a:defRPr>
            </a:pPr>
            <a:r>
              <a:t>Ce am invatat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•  Partitionarea in clase de echivalenta reduce numarul de teste pastrand acoperirea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•  Analiza valorilor de frontiera detecteaza erori off-by-one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•  Acoperirea la nivel de conditie e mai puternica decat cea de decizie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•  Mutation testing valideaza calitatea testelor, nu doar cantitatea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•  Prompturile tintite detaliate (ChatGPT/Gemini/Claude) ating 100% rata de trecere — calitatea prompt-ului = calitatea testelor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55B6E"/>
                </a:solidFill>
                <a:latin typeface="Calibri"/>
              </a:defRPr>
            </a:pPr>
            <a:r>
              <a:t>  •  Un scor de mutatie &gt;90% indica o suita de teste de calitate ridicata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0C9D8A"/>
                </a:solidFill>
                <a:latin typeface="Calibri"/>
              </a:defRPr>
            </a:pPr>
            <a:r>
              <a:t>Referinte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alibri"/>
              </a:defRPr>
            </a:pPr>
            <a:r>
              <a:t>  [1] Jest Documentation — jestjs.io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alibri"/>
              </a:defRPr>
            </a:pPr>
            <a:r>
              <a:t>  [2] Stryker Mutator — stryker-mutator.io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alibri"/>
              </a:defRPr>
            </a:pPr>
            <a:r>
              <a:t>  [3] Aniche, M. — Effective Software Testing (2022)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8E94A0"/>
                </a:solidFill>
                <a:latin typeface="Calibri"/>
              </a:defRPr>
            </a:pPr>
            <a:r>
              <a:t>  [4] Khorikov, V. — Unit Testing Principles, Practices, and Patterns (2020)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5146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94A0"/>
                </a:solidFill>
                <a:latin typeface="Calibri"/>
              </a:defRPr>
            </a:pPr>
            <a:r>
              <a:t>GitHub Commits</a:t>
            </a:r>
          </a:p>
        </p:txBody>
      </p:sp>
      <p:pic>
        <p:nvPicPr>
          <p:cNvPr id="25" name="Picture 24" descr="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834640"/>
            <a:ext cx="2032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