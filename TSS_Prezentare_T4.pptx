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2D6A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D6A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1A1A2E"/>
                </a:solidFill>
                <a:latin typeface="Calibri"/>
              </a:defRPr>
            </a:pPr>
            <a:r>
              <a:t>Testare Unitara in JavaScript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920240"/>
            <a:ext cx="3200400" cy="50800"/>
          </a:xfrm>
          <a:prstGeom prst="rect">
            <a:avLst/>
          </a:prstGeom>
          <a:solidFill>
            <a:srgbClr val="0C9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D6ACF"/>
                </a:solidFill>
                <a:latin typeface="Calibri"/>
              </a:defRPr>
            </a:pPr>
            <a:r>
              <a:t>Tema T4  —  Testarea Sistemelor Software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8346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555B6E"/>
                </a:solidFill>
                <a:latin typeface="Calibri"/>
              </a:defRPr>
            </a:pPr>
            <a:r>
              <a:t>Sistem de Shopping Cart cu Motor de Preturi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3657600"/>
            <a:ext cx="457200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C9D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3749039"/>
            <a:ext cx="4114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C9D8A"/>
                </a:solidFill>
                <a:latin typeface="Calibri"/>
              </a:defRPr>
            </a:pPr>
            <a:r>
              <a:t>Echipa</a:t>
            </a:r>
          </a:p>
          <a:p>
            <a:pPr algn="l">
              <a:spcAft>
                <a:spcPts val="300"/>
              </a:spcAft>
              <a:defRPr sz="1400" b="0">
                <a:solidFill>
                  <a:srgbClr val="555B6E"/>
                </a:solidFill>
                <a:latin typeface="Calibri"/>
              </a:defRPr>
            </a:pPr>
            <a:r>
              <a:t>   Bogdan Velicu</a:t>
            </a:r>
          </a:p>
          <a:p>
            <a:pPr algn="l">
              <a:spcAft>
                <a:spcPts val="300"/>
              </a:spcAft>
              <a:defRPr sz="1400" b="0">
                <a:solidFill>
                  <a:srgbClr val="555B6E"/>
                </a:solidFill>
                <a:latin typeface="Calibri"/>
              </a:defRPr>
            </a:pPr>
            <a:r>
              <a:t>   Alexandru Satalla</a:t>
            </a:r>
          </a:p>
          <a:p>
            <a:pPr algn="l">
              <a:spcAft>
                <a:spcPts val="300"/>
              </a:spcAft>
              <a:defRPr sz="1400" b="0">
                <a:solidFill>
                  <a:srgbClr val="555B6E"/>
                </a:solidFill>
                <a:latin typeface="Calibri"/>
              </a:defRPr>
            </a:pPr>
            <a:r>
              <a:t>   Cristina Diana Savin</a:t>
            </a:r>
          </a:p>
          <a:p>
            <a:pPr algn="l">
              <a:spcAft>
                <a:spcPts val="300"/>
              </a:spcAft>
              <a:defRPr sz="1400" b="0">
                <a:solidFill>
                  <a:srgbClr val="555B6E"/>
                </a:solidFill>
                <a:latin typeface="Calibri"/>
              </a:defRPr>
            </a:pPr>
            <a:r>
              <a:t>   Robert Stan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0" y="3657600"/>
            <a:ext cx="411480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D6A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0" y="3749039"/>
            <a:ext cx="3657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2D6ACF"/>
                </a:solidFill>
                <a:latin typeface="Calibri"/>
              </a:defRPr>
            </a:pPr>
            <a:r>
              <a:t>Tehnologii</a:t>
            </a:r>
          </a:p>
          <a:p>
            <a:pPr algn="l">
              <a:spcAft>
                <a:spcPts val="300"/>
              </a:spcAft>
              <a:defRPr sz="1400" b="0">
                <a:solidFill>
                  <a:srgbClr val="555B6E"/>
                </a:solidFill>
                <a:latin typeface="Calibri"/>
              </a:defRPr>
            </a:pPr>
            <a:r>
              <a:t>   Node.js v25.8.1</a:t>
            </a:r>
          </a:p>
          <a:p>
            <a:pPr algn="l">
              <a:spcAft>
                <a:spcPts val="300"/>
              </a:spcAft>
              <a:defRPr sz="1400" b="0">
                <a:solidFill>
                  <a:srgbClr val="555B6E"/>
                </a:solidFill>
                <a:latin typeface="Calibri"/>
              </a:defRPr>
            </a:pPr>
            <a:r>
              <a:t>   Jest 29.7.0</a:t>
            </a:r>
          </a:p>
          <a:p>
            <a:pPr algn="l">
              <a:spcAft>
                <a:spcPts val="300"/>
              </a:spcAft>
              <a:defRPr sz="1400" b="0">
                <a:solidFill>
                  <a:srgbClr val="555B6E"/>
                </a:solidFill>
                <a:latin typeface="Calibri"/>
              </a:defRPr>
            </a:pPr>
            <a:r>
              <a:t>   Stryker Mutator 8.6.0</a:t>
            </a:r>
          </a:p>
          <a:p>
            <a:pPr algn="l">
              <a:spcAft>
                <a:spcPts val="300"/>
              </a:spcAft>
              <a:defRPr sz="1400" b="0">
                <a:solidFill>
                  <a:srgbClr val="555B6E"/>
                </a:solidFill>
                <a:latin typeface="Calibri"/>
              </a:defRPr>
            </a:pPr>
            <a:r>
              <a:t>   Git / GitHub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612648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E94A0"/>
                </a:solidFill>
                <a:latin typeface="Calibri"/>
              </a:defRPr>
            </a:pPr>
            <a:r>
              <a:t>Facultatea de Matematica si Informatica  ·  Anul III, Sem. II  ·  Aprilie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2D6A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A1A2E"/>
                </a:solidFill>
                <a:latin typeface="Calibri"/>
              </a:defRPr>
            </a:pPr>
            <a:r>
              <a:t>Descriere Proiect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822960"/>
            <a:ext cx="2286000" cy="50800"/>
          </a:xfrm>
          <a:prstGeom prst="rect">
            <a:avLst/>
          </a:prstGeom>
          <a:solidFill>
            <a:srgbClr val="2D6A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097280"/>
            <a:ext cx="4754880" cy="5486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188720"/>
            <a:ext cx="4297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D6ACF"/>
                </a:solidFill>
                <a:latin typeface="Calibri"/>
              </a:defRPr>
            </a:pPr>
            <a:r>
              <a:t>Functionalitati testate</a:t>
            </a:r>
          </a:p>
          <a:p>
            <a:pPr algn="l">
              <a:spcAft>
                <a:spcPts val="300"/>
              </a:spcAft>
              <a:defRPr sz="4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2D6ACF"/>
                </a:solidFill>
                <a:latin typeface="Calibri"/>
              </a:rPr>
              <a:t>   ShoppingCart</a:t>
            </a:r>
            <a:r>
              <a:rPr sz="1300" b="0">
                <a:solidFill>
                  <a:srgbClr val="555B6E"/>
                </a:solidFill>
                <a:latin typeface="Calibri"/>
              </a:rPr>
              <a:t> — gestionare cos de cumparaturi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2D6ACF"/>
                </a:solidFill>
                <a:latin typeface="Calibri"/>
              </a:rPr>
              <a:t>   PricingEngine</a:t>
            </a:r>
            <a:r>
              <a:rPr sz="1300" b="0">
                <a:solidFill>
                  <a:srgbClr val="555B6E"/>
                </a:solidFill>
                <a:latin typeface="Calibri"/>
              </a:rPr>
              <a:t> — motor de calcul preturi</a:t>
            </a:r>
          </a:p>
          <a:p>
            <a:pPr algn="l">
              <a:spcAft>
                <a:spcPts val="300"/>
              </a:spcAft>
              <a:defRPr sz="300" b="0">
                <a:solidFill>
                  <a:srgbClr val="1A1A2E"/>
                </a:solidFill>
                <a:latin typeface="Calibri"/>
              </a:defRPr>
            </a:pPr>
          </a:p>
          <a:p>
            <a:pPr algn="l">
              <a:spcAft>
                <a:spcPts val="300"/>
              </a:spcAft>
              <a:defRPr sz="1200" b="0">
                <a:solidFill>
                  <a:srgbClr val="555B6E"/>
                </a:solidFill>
                <a:latin typeface="Calibri"/>
              </a:defRPr>
            </a:pPr>
            <a:r>
              <a:t>   •  Validare input (nume, pret, cantitate, categorie)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555B6E"/>
                </a:solidFill>
                <a:latin typeface="Calibri"/>
              </a:defRPr>
            </a:pPr>
            <a:r>
              <a:t>   •  Taxe pe categorii (electronics 19%, clothing 9%, food/books 5%)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555B6E"/>
                </a:solidFill>
                <a:latin typeface="Calibri"/>
              </a:defRPr>
            </a:pPr>
            <a:r>
              <a:t>   •  Transport gratuit peste 200 RON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555B6E"/>
                </a:solidFill>
                <a:latin typeface="Calibri"/>
              </a:defRPr>
            </a:pPr>
            <a:r>
              <a:t>   •  Cupoane reducere (procentuale, fixe, buy-X-get-Y)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555B6E"/>
                </a:solidFill>
                <a:latin typeface="Calibri"/>
              </a:defRPr>
            </a:pPr>
            <a:r>
              <a:t>   •  Reduceri pe volum (5+ prod: 2%, 10+: 5%, 20+: 7%, 30+: 10%)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555B6E"/>
                </a:solidFill>
                <a:latin typeface="Calibri"/>
              </a:defRPr>
            </a:pPr>
            <a:r>
              <a:t>   •  Puncte de fidelitate (bonus la 100/200/500 RON)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555B6E"/>
                </a:solidFill>
                <a:latin typeface="Calibri"/>
              </a:defRPr>
            </a:pPr>
            <a:r>
              <a:t>   •  Sortare produse, identificare cel mai scump/ieftin</a:t>
            </a:r>
          </a:p>
          <a:p>
            <a:pPr algn="l">
              <a:spcAft>
                <a:spcPts val="300"/>
              </a:spcAft>
              <a:defRPr sz="600" b="0">
                <a:solidFill>
                  <a:srgbClr val="1A1A2E"/>
                </a:solidFill>
                <a:latin typeface="Calibri"/>
              </a:defRPr>
            </a:pPr>
          </a:p>
          <a:p>
            <a:pPr algn="l">
              <a:spcAft>
                <a:spcPts val="300"/>
              </a:spcAft>
              <a:defRPr sz="1400" b="1">
                <a:solidFill>
                  <a:srgbClr val="2D6ACF"/>
                </a:solidFill>
                <a:latin typeface="Calibri"/>
              </a:defRPr>
            </a:pPr>
            <a:r>
              <a:t>Sumar proiect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555B6E"/>
                </a:solidFill>
                <a:latin typeface="Calibri"/>
              </a:defRPr>
            </a:pPr>
            <a:r>
              <a:t>   •  4 fisiere sursa  ·  5 fisiere teste  ·  309 teste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1D9B56"/>
                </a:solidFill>
                <a:latin typeface="Calibri"/>
              </a:defRPr>
            </a:pPr>
            <a:r>
              <a:t>   •  100% statement/function/line coverage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555B6E"/>
                </a:solidFill>
                <a:latin typeface="Calibri"/>
              </a:defRPr>
            </a:pPr>
            <a:r>
              <a:t>   •  90.32% mutation score (Stryker)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94960" y="1097280"/>
            <a:ext cx="6492240" cy="5486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1_arhitec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280160"/>
            <a:ext cx="6126480" cy="459225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1D9B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A1A2E"/>
                </a:solidFill>
                <a:latin typeface="Calibri"/>
              </a:defRPr>
            </a:pPr>
            <a:r>
              <a:t>Partitionare in Clase de Echivalenta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822960"/>
            <a:ext cx="2286000" cy="50800"/>
          </a:xfrm>
          <a:prstGeom prst="rect">
            <a:avLst/>
          </a:prstGeom>
          <a:solidFill>
            <a:srgbClr val="1D9B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960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E94A0"/>
                </a:solidFill>
                <a:latin typeface="Calibri"/>
              </a:defRPr>
            </a:pPr>
            <a:r>
              <a:t>Principiu: Impartim domeniul de intrare in clase unde toate valorile produc comportament similar. Un reprezentant per clasa.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371600"/>
            <a:ext cx="11612880" cy="5303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2_clase_echivalen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3421" y="1463040"/>
            <a:ext cx="6814677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E87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A1A2E"/>
                </a:solidFill>
                <a:latin typeface="Calibri"/>
              </a:defRPr>
            </a:pPr>
            <a:r>
              <a:t>Analiza Valorilor de Frontiera (BVA)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822960"/>
            <a:ext cx="2286000" cy="50800"/>
          </a:xfrm>
          <a:prstGeom prst="rect">
            <a:avLst/>
          </a:prstGeom>
          <a:solidFill>
            <a:srgbClr val="E87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960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E94A0"/>
                </a:solidFill>
                <a:latin typeface="Calibri"/>
              </a:defRPr>
            </a:pPr>
            <a:r>
              <a:t>Principiu: Testam la limitele exacte ale fiecarui domeniu — sub frontiera, la frontiera, peste frontiera.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371600"/>
            <a:ext cx="11612880" cy="5303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3_valori_frontie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3221" y="1554480"/>
            <a:ext cx="7335078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0C9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A1A2E"/>
                </a:solidFill>
                <a:latin typeface="Calibri"/>
              </a:defRPr>
            </a:pPr>
            <a:r>
              <a:t>Acoperire Instructiune si Decizie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822960"/>
            <a:ext cx="2286000" cy="50800"/>
          </a:xfrm>
          <a:prstGeom prst="rect">
            <a:avLst/>
          </a:prstGeom>
          <a:solidFill>
            <a:srgbClr val="0C9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5760" y="1097280"/>
            <a:ext cx="2148840" cy="12801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C9D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88720"/>
            <a:ext cx="2148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C9D8A"/>
                </a:solidFill>
                <a:latin typeface="Calibri"/>
              </a:defRPr>
            </a:pPr>
            <a:r>
              <a:t>100%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691640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A1A2E"/>
                </a:solidFill>
                <a:latin typeface="Calibri"/>
              </a:defRPr>
            </a:pPr>
            <a:r>
              <a:t>Statements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96596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8E94A0"/>
                </a:solidFill>
                <a:latin typeface="Calibri"/>
              </a:defRPr>
            </a:pPr>
            <a:r>
              <a:t>224/224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97479" y="1097280"/>
            <a:ext cx="2148840" cy="12801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87E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7479" y="1188720"/>
            <a:ext cx="2148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E87E1A"/>
                </a:solidFill>
                <a:latin typeface="Calibri"/>
              </a:defRPr>
            </a:pPr>
            <a:r>
              <a:t>98.91%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79" y="1691640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A1A2E"/>
                </a:solidFill>
                <a:latin typeface="Calibri"/>
              </a:defRPr>
            </a:pPr>
            <a:r>
              <a:t>Branches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79" y="196596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8E94A0"/>
                </a:solidFill>
                <a:latin typeface="Calibri"/>
              </a:defRPr>
            </a:pPr>
            <a:r>
              <a:t>182/184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0" y="1097280"/>
            <a:ext cx="2148840" cy="12801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C9D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0" y="1188720"/>
            <a:ext cx="2148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C9D8A"/>
                </a:solidFill>
                <a:latin typeface="Calibri"/>
              </a:defRPr>
            </a:pPr>
            <a:r>
              <a:t>100%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1691640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A1A2E"/>
                </a:solidFill>
                <a:latin typeface="Calibri"/>
              </a:defRPr>
            </a:pPr>
            <a:r>
              <a:t>Functions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196596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8E94A0"/>
                </a:solidFill>
                <a:latin typeface="Calibri"/>
              </a:defRPr>
            </a:pPr>
            <a:r>
              <a:t>44/44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60919" y="1097280"/>
            <a:ext cx="2148840" cy="12801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C9D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60919" y="1188720"/>
            <a:ext cx="2148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C9D8A"/>
                </a:solidFill>
                <a:latin typeface="Calibri"/>
              </a:defRPr>
            </a:pPr>
            <a:r>
              <a:t>100%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60919" y="1691640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A1A2E"/>
                </a:solidFill>
                <a:latin typeface="Calibri"/>
              </a:defRPr>
            </a:pPr>
            <a:r>
              <a:t>Lines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60919" y="196596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8E94A0"/>
                </a:solidFill>
                <a:latin typeface="Calibri"/>
              </a:defRPr>
            </a:pPr>
            <a:r>
              <a:t>213/213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92640" y="1097280"/>
            <a:ext cx="2148840" cy="12801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C9D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0" y="1188720"/>
            <a:ext cx="2148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C9D8A"/>
                </a:solidFill>
                <a:latin typeface="Calibri"/>
              </a:defRPr>
            </a:pPr>
            <a:r>
              <a:t>309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0" y="1691640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A1A2E"/>
                </a:solidFill>
                <a:latin typeface="Calibri"/>
              </a:defRPr>
            </a:pPr>
            <a:r>
              <a:t>Tests Passed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92640" y="196596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8E94A0"/>
                </a:solidFill>
                <a:latin typeface="Calibri"/>
              </a:defRPr>
            </a:pPr>
            <a:r>
              <a:t>5 suites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" y="2651760"/>
            <a:ext cx="1143000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26974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E94A0"/>
                </a:solidFill>
                <a:latin typeface="Calibri"/>
              </a:defRPr>
            </a:pPr>
            <a:r>
              <a:t>Istanbul / LCOV Coverage Report</a:t>
            </a:r>
          </a:p>
        </p:txBody>
      </p:sp>
      <p:pic>
        <p:nvPicPr>
          <p:cNvPr id="27" name="Picture 26" descr="lcov-re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971800"/>
            <a:ext cx="11064240" cy="1188720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365760" y="4480560"/>
            <a:ext cx="502920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45262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E94A0"/>
                </a:solidFill>
                <a:latin typeface="Calibri"/>
              </a:defRPr>
            </a:pPr>
            <a:r>
              <a:t>npm run test:coverage (terminal)</a:t>
            </a:r>
          </a:p>
        </p:txBody>
      </p:sp>
      <p:pic>
        <p:nvPicPr>
          <p:cNvPr id="30" name="Picture 29" descr="coverage_cropp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0" y="4754880"/>
            <a:ext cx="849085" cy="1828800"/>
          </a:xfrm>
          <a:prstGeom prst="rect">
            <a:avLst/>
          </a:prstGeom>
        </p:spPr>
      </p:pic>
      <p:sp>
        <p:nvSpPr>
          <p:cNvPr id="31" name="Rounded Rectangle 30"/>
          <p:cNvSpPr/>
          <p:nvPr/>
        </p:nvSpPr>
        <p:spPr>
          <a:xfrm>
            <a:off x="5577840" y="4480560"/>
            <a:ext cx="621792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760720" y="45262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E94A0"/>
                </a:solidFill>
                <a:latin typeface="Calibri"/>
              </a:defRPr>
            </a:pPr>
            <a:r>
              <a:t>npm test (309 tests passing)</a:t>
            </a:r>
          </a:p>
        </p:txBody>
      </p:sp>
      <p:pic>
        <p:nvPicPr>
          <p:cNvPr id="33" name="Picture 32" descr="test_summary_cropp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79" y="4754880"/>
            <a:ext cx="1436624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6F4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A1A2E"/>
                </a:solidFill>
                <a:latin typeface="Calibri"/>
              </a:defRPr>
            </a:pPr>
            <a:r>
              <a:t>Acoperire Conditie si Cale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822960"/>
            <a:ext cx="2286000" cy="50800"/>
          </a:xfrm>
          <a:prstGeom prst="rect">
            <a:avLst/>
          </a:prstGeom>
          <a:solidFill>
            <a:srgbClr val="6F4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5760" y="1097280"/>
            <a:ext cx="5303520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F42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188720"/>
            <a:ext cx="48463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F42C1"/>
                </a:solidFill>
                <a:latin typeface="Calibri"/>
              </a:defRPr>
            </a:pPr>
            <a:r>
              <a:t>Acoperire Conditie — calculateShipping()</a:t>
            </a:r>
          </a:p>
          <a:p>
            <a:pPr algn="l">
              <a:spcAft>
                <a:spcPts val="600"/>
              </a:spcAft>
              <a:defRPr sz="1100" b="0">
                <a:solidFill>
                  <a:srgbClr val="E87E1A"/>
                </a:solidFill>
                <a:latin typeface="Consolas"/>
              </a:defRPr>
            </a:pPr>
            <a:r>
              <a:t>Conditie: shippingType === 'standard' &amp;&amp; subtotal &gt;= 200</a:t>
            </a:r>
          </a:p>
          <a:p>
            <a:pPr algn="l">
              <a:spcAft>
                <a:spcPts val="100"/>
              </a:spcAft>
              <a:defRPr sz="1000" b="1">
                <a:solidFill>
                  <a:srgbClr val="6F42C1"/>
                </a:solidFill>
                <a:latin typeface="Consolas"/>
              </a:defRPr>
            </a:pPr>
            <a:r>
              <a:t>  Test  C1 (standard?)  C2 (&gt;=200?)  Rezultat</a:t>
            </a:r>
          </a:p>
          <a:p>
            <a:pPr algn="l">
              <a:spcAft>
                <a:spcPts val="100"/>
              </a:spcAft>
              <a:defRPr sz="1000" b="0">
                <a:solidFill>
                  <a:srgbClr val="555B6E"/>
                </a:solidFill>
                <a:latin typeface="Consolas"/>
              </a:defRPr>
            </a:pPr>
            <a:r>
              <a:t>  T1    TRUE            TRUE         Gratuit (0 RON)</a:t>
            </a:r>
          </a:p>
          <a:p>
            <a:pPr algn="l">
              <a:spcAft>
                <a:spcPts val="100"/>
              </a:spcAft>
              <a:defRPr sz="1000" b="0">
                <a:solidFill>
                  <a:srgbClr val="555B6E"/>
                </a:solidFill>
                <a:latin typeface="Consolas"/>
              </a:defRPr>
            </a:pPr>
            <a:r>
              <a:t>  T2    TRUE            FALSE        Standard (15 RON)</a:t>
            </a:r>
          </a:p>
          <a:p>
            <a:pPr algn="l">
              <a:spcAft>
                <a:spcPts val="100"/>
              </a:spcAft>
              <a:defRPr sz="1000" b="0">
                <a:solidFill>
                  <a:srgbClr val="555B6E"/>
                </a:solidFill>
                <a:latin typeface="Consolas"/>
              </a:defRPr>
            </a:pPr>
            <a:r>
              <a:t>  T3    FALSE           TRUE         Express (30 RON)</a:t>
            </a:r>
          </a:p>
          <a:p>
            <a:pPr algn="l">
              <a:spcAft>
                <a:spcPts val="100"/>
              </a:spcAft>
              <a:defRPr sz="1000" b="0">
                <a:solidFill>
                  <a:srgbClr val="555B6E"/>
                </a:solidFill>
                <a:latin typeface="Consolas"/>
              </a:defRPr>
            </a:pPr>
            <a:r>
              <a:t>  T4    FALSE           FALSE        Express (30 RON)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4023360"/>
            <a:ext cx="5303520" cy="2651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F42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4114800"/>
            <a:ext cx="48463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F42C1"/>
                </a:solidFill>
                <a:latin typeface="Calibri"/>
              </a:defRPr>
            </a:pPr>
            <a:r>
              <a:t>Acoperire Cale — addItem()</a:t>
            </a:r>
          </a:p>
          <a:p>
            <a:pPr algn="l">
              <a:spcAft>
                <a:spcPts val="600"/>
              </a:spcAft>
              <a:defRPr sz="1200" b="1">
                <a:solidFill>
                  <a:srgbClr val="E87E1A"/>
                </a:solidFill>
                <a:latin typeface="Calibri"/>
              </a:defRPr>
            </a:pPr>
            <a:r>
              <a:t>Complexitate ciclomatica: V(G) = 5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DC3545"/>
                </a:solidFill>
                <a:latin typeface="Calibri"/>
              </a:rPr>
              <a:t>   P1:</a:t>
            </a:r>
            <a:r>
              <a:rPr sz="1200" b="0">
                <a:solidFill>
                  <a:srgbClr val="555B6E"/>
                </a:solidFill>
                <a:latin typeface="Calibri"/>
              </a:rPr>
              <a:t> Validare → Eroare (input invalid)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DC3545"/>
                </a:solidFill>
                <a:latin typeface="Calibri"/>
              </a:rPr>
              <a:t>   P2:</a:t>
            </a:r>
            <a:r>
              <a:rPr sz="1200" b="0">
                <a:solidFill>
                  <a:srgbClr val="555B6E"/>
                </a:solidFill>
                <a:latin typeface="Calibri"/>
              </a:rPr>
              <a:t> Capacitate → Eroare (cos plin)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DC3545"/>
                </a:solidFill>
                <a:latin typeface="Calibri"/>
              </a:rPr>
              <a:t>   P3:</a:t>
            </a:r>
            <a:r>
              <a:rPr sz="1200" b="0">
                <a:solidFill>
                  <a:srgbClr val="555B6E"/>
                </a:solidFill>
                <a:latin typeface="Calibri"/>
              </a:rPr>
              <a:t> Produs existent, cantitate depasita → Eroare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1D9B56"/>
                </a:solidFill>
                <a:latin typeface="Calibri"/>
              </a:rPr>
              <a:t>   P4:</a:t>
            </a:r>
            <a:r>
              <a:rPr sz="1200" b="0">
                <a:solidFill>
                  <a:srgbClr val="555B6E"/>
                </a:solidFill>
                <a:latin typeface="Calibri"/>
              </a:rPr>
              <a:t> Produs existent → Actualizare cantitate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1D9B56"/>
                </a:solidFill>
                <a:latin typeface="Calibri"/>
              </a:rPr>
              <a:t>   P5:</a:t>
            </a:r>
            <a:r>
              <a:rPr sz="1200" b="0">
                <a:solidFill>
                  <a:srgbClr val="555B6E"/>
                </a:solidFill>
                <a:latin typeface="Calibri"/>
              </a:rPr>
              <a:t> Produs nou → Adaugare in cos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0" y="1097280"/>
            <a:ext cx="6035040" cy="5577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4_cfg_addIt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234440"/>
            <a:ext cx="4717273" cy="53492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DC3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A1A2E"/>
                </a:solidFill>
                <a:latin typeface="Calibri"/>
              </a:defRPr>
            </a:pPr>
            <a:r>
              <a:t>Mutation Testing cu Stryker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822960"/>
            <a:ext cx="2286000" cy="50800"/>
          </a:xfrm>
          <a:prstGeom prst="rect">
            <a:avLst/>
          </a:prstGeom>
          <a:solidFill>
            <a:srgbClr val="DC3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960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E94A0"/>
                </a:solidFill>
                <a:latin typeface="Calibri"/>
              </a:defRPr>
            </a:pPr>
            <a:r>
              <a:t>Stryker modifica codul sursa (mutanti) si verifica daca testele detecteaza schimbarile.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371600"/>
            <a:ext cx="5029200" cy="5212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35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4572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DC3545"/>
                </a:solidFill>
                <a:latin typeface="Calibri"/>
              </a:defRPr>
            </a:pPr>
            <a:r>
              <a:t>Tipuri de mutatii aplicate</a:t>
            </a:r>
          </a:p>
          <a:p>
            <a:pPr algn="l">
              <a:spcAft>
                <a:spcPts val="300"/>
              </a:spcAft>
              <a:defRPr sz="3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DC3545"/>
                </a:solidFill>
                <a:latin typeface="Calibri"/>
              </a:rPr>
              <a:t>   Aritmetice:</a:t>
            </a:r>
            <a:r>
              <a:rPr sz="1200" b="0">
                <a:solidFill>
                  <a:srgbClr val="555B6E"/>
                </a:solidFill>
                <a:latin typeface="Calibri"/>
              </a:rPr>
              <a:t>  +→-,  *→/,  /→*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DC3545"/>
                </a:solidFill>
                <a:latin typeface="Calibri"/>
              </a:rPr>
              <a:t>   Comparatie:</a:t>
            </a:r>
            <a:r>
              <a:rPr sz="1200" b="0">
                <a:solidFill>
                  <a:srgbClr val="555B6E"/>
                </a:solidFill>
                <a:latin typeface="Calibri"/>
              </a:rPr>
              <a:t>  &gt;=→&gt;,  ===→!==,  &lt;→&lt;=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DC3545"/>
                </a:solidFill>
                <a:latin typeface="Calibri"/>
              </a:rPr>
              <a:t>   Logice:</a:t>
            </a:r>
            <a:r>
              <a:rPr sz="1200" b="0">
                <a:solidFill>
                  <a:srgbClr val="555B6E"/>
                </a:solidFill>
                <a:latin typeface="Calibri"/>
              </a:rPr>
              <a:t>  &amp;&amp;→||,  ||→&amp;&amp;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DC3545"/>
                </a:solidFill>
                <a:latin typeface="Calibri"/>
              </a:rPr>
              <a:t>   Eliminare:</a:t>
            </a:r>
            <a:r>
              <a:rPr sz="1200" b="0">
                <a:solidFill>
                  <a:srgbClr val="555B6E"/>
                </a:solidFill>
                <a:latin typeface="Calibri"/>
              </a:rPr>
              <a:t>  stergere instructiuni/blocuri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DC3545"/>
                </a:solidFill>
                <a:latin typeface="Calibri"/>
              </a:rPr>
              <a:t>   Booleene:</a:t>
            </a:r>
            <a:r>
              <a:rPr sz="1200" b="0">
                <a:solidFill>
                  <a:srgbClr val="555B6E"/>
                </a:solidFill>
                <a:latin typeface="Calibri"/>
              </a:rPr>
              <a:t>  true→false, inversare conditii</a:t>
            </a:r>
          </a:p>
          <a:p>
            <a:pPr algn="l">
              <a:spcAft>
                <a:spcPts val="300"/>
              </a:spcAft>
              <a:defRPr sz="800" b="0">
                <a:solidFill>
                  <a:srgbClr val="1A1A2E"/>
                </a:solidFill>
                <a:latin typeface="Calibri"/>
              </a:defRPr>
            </a:pPr>
          </a:p>
          <a:p>
            <a:pPr algn="l">
              <a:spcAft>
                <a:spcPts val="400"/>
              </a:spcAft>
              <a:defRPr sz="1400" b="1">
                <a:solidFill>
                  <a:srgbClr val="DC3545"/>
                </a:solidFill>
                <a:latin typeface="Calibri"/>
              </a:defRPr>
            </a:pPr>
            <a:r>
              <a:t>Rezultate</a:t>
            </a:r>
          </a:p>
          <a:p>
            <a:pPr algn="l">
              <a:spcAft>
                <a:spcPts val="100"/>
              </a:spcAft>
              <a:defRPr sz="1100" b="1">
                <a:solidFill>
                  <a:srgbClr val="DC3545"/>
                </a:solidFill>
                <a:latin typeface="Consolas"/>
              </a:defRPr>
            </a:pPr>
            <a:r>
              <a:t>  Fisier                  Scor  Killed  Survived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555B6E"/>
                </a:solidFill>
                <a:latin typeface="Consolas"/>
              </a:defRPr>
            </a:pPr>
            <a:r>
              <a:t>  validators.js         96.88%      93         3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555B6E"/>
                </a:solidFill>
                <a:latin typeface="Consolas"/>
              </a:defRPr>
            </a:pPr>
            <a:r>
              <a:t>  ShoppingCart.js       92.66%     164        12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555B6E"/>
                </a:solidFill>
                <a:latin typeface="Consolas"/>
              </a:defRPr>
            </a:pPr>
            <a:r>
              <a:t>  PricingEngine.js      86.78%     254        39</a:t>
            </a:r>
          </a:p>
          <a:p>
            <a:pPr algn="l">
              <a:spcAft>
                <a:spcPts val="100"/>
              </a:spcAft>
              <a:defRPr sz="1100" b="1">
                <a:solidFill>
                  <a:srgbClr val="1D9B56"/>
                </a:solidFill>
                <a:latin typeface="Consolas"/>
              </a:defRPr>
            </a:pPr>
            <a:r>
              <a:t>  TOTAL                 90.32%     511        54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77840" y="1371600"/>
            <a:ext cx="6309360" cy="5212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720" y="14173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E94A0"/>
                </a:solidFill>
                <a:latin typeface="Calibri"/>
              </a:defRPr>
            </a:pPr>
            <a:r>
              <a:t>Stryker Mutation Report (HTML)</a:t>
            </a:r>
          </a:p>
        </p:txBody>
      </p:sp>
      <p:pic>
        <p:nvPicPr>
          <p:cNvPr id="10" name="Picture 9" descr="mutation-repo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1737360"/>
            <a:ext cx="5943600" cy="2971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E87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A1A2E"/>
                </a:solidFill>
                <a:latin typeface="Calibri"/>
              </a:defRPr>
            </a:pPr>
            <a:r>
              <a:t>Analiza Mutantilor Supravietuitori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822960"/>
            <a:ext cx="2286000" cy="50800"/>
          </a:xfrm>
          <a:prstGeom prst="rect">
            <a:avLst/>
          </a:prstGeom>
          <a:solidFill>
            <a:srgbClr val="E87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5760" y="1097280"/>
            <a:ext cx="5669280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7E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188720"/>
            <a:ext cx="521208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E87E1A"/>
                </a:solidFill>
                <a:latin typeface="Calibri"/>
              </a:defRPr>
            </a:pPr>
            <a:r>
              <a:t>Mutant #1 — Operator logic ( || → &amp;&amp; )</a:t>
            </a:r>
          </a:p>
          <a:p>
            <a:pPr algn="l">
              <a:spcAft>
                <a:spcPts val="300"/>
              </a:spcAft>
              <a:defRPr sz="300" b="0">
                <a:solidFill>
                  <a:srgbClr val="1A1A2E"/>
                </a:solidFill>
                <a:latin typeface="Calibri"/>
              </a:defRPr>
            </a:pPr>
          </a:p>
          <a:p>
            <a:pPr algn="l">
              <a:spcAft>
                <a:spcPts val="300"/>
              </a:spcAft>
              <a:defRPr sz="1000" b="0">
                <a:solidFill>
                  <a:srgbClr val="8E94A0"/>
                </a:solidFill>
                <a:latin typeface="Consolas"/>
              </a:defRPr>
            </a:pPr>
            <a:r>
              <a:t>// Original: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1D9B56"/>
                </a:solidFill>
                <a:latin typeface="Consolas"/>
              </a:defRPr>
            </a:pPr>
            <a:r>
              <a:t>if (!Array.isArray(items) || items.length === 0)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8E94A0"/>
                </a:solidFill>
                <a:latin typeface="Consolas"/>
              </a:defRPr>
            </a:pPr>
            <a:r>
              <a:t>// Mutant: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DC3545"/>
                </a:solidFill>
                <a:latin typeface="Consolas"/>
              </a:defRPr>
            </a:pPr>
            <a:r>
              <a:t>if (!Array.isArray(items) &amp;&amp; items.length === 0)</a:t>
            </a:r>
          </a:p>
          <a:p>
            <a:pPr algn="l">
              <a:spcAft>
                <a:spcPts val="300"/>
              </a:spcAft>
              <a:defRPr sz="3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1A1A2E"/>
                </a:solidFill>
                <a:latin typeface="Calibri"/>
              </a:rPr>
              <a:t>De ce a supravietuit: </a:t>
            </a:r>
            <a:r>
              <a:rPr sz="1100" b="0">
                <a:solidFill>
                  <a:srgbClr val="555B6E"/>
                </a:solidFill>
                <a:latin typeface="Calibri"/>
              </a:rPr>
              <a:t>Toate testele trimit array-uri valide.</a:t>
            </a:r>
          </a:p>
          <a:p>
            <a:pPr>
              <a:spcAft>
                <a:spcPts val="300"/>
              </a:spcAft>
            </a:pPr>
            <a:r>
              <a:rPr sz="1100" b="0">
                <a:solidFill>
                  <a:srgbClr val="555B6E"/>
                </a:solidFill>
                <a:latin typeface="Calibri"/>
              </a:rPr>
              <a:t>Mutatia afecteaza doar cazul cand input-ul nu e array.</a:t>
            </a:r>
          </a:p>
          <a:p>
            <a:pPr algn="l">
              <a:spcAft>
                <a:spcPts val="300"/>
              </a:spcAft>
              <a:defRPr sz="2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1D9B56"/>
                </a:solidFill>
                <a:latin typeface="Calibri"/>
              </a:rPr>
              <a:t>Solutie: </a:t>
            </a:r>
            <a:r>
              <a:rPr sz="1100" b="0">
                <a:solidFill>
                  <a:srgbClr val="1D9B56"/>
                </a:solidFill>
                <a:latin typeface="Calibri"/>
              </a:rPr>
              <a:t>Test cu applyBuyXGetYFree(null, 2, 1)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097280"/>
            <a:ext cx="5669280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7E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188720"/>
            <a:ext cx="521208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E87E1A"/>
                </a:solidFill>
                <a:latin typeface="Calibri"/>
              </a:defRPr>
            </a:pPr>
            <a:r>
              <a:t>Mutant #2 — Valoare default string</a:t>
            </a:r>
          </a:p>
          <a:p>
            <a:pPr algn="l">
              <a:spcAft>
                <a:spcPts val="300"/>
              </a:spcAft>
              <a:defRPr sz="300" b="0">
                <a:solidFill>
                  <a:srgbClr val="1A1A2E"/>
                </a:solidFill>
                <a:latin typeface="Calibri"/>
              </a:defRPr>
            </a:pPr>
          </a:p>
          <a:p>
            <a:pPr algn="l">
              <a:spcAft>
                <a:spcPts val="300"/>
              </a:spcAft>
              <a:defRPr sz="1000" b="0">
                <a:solidFill>
                  <a:srgbClr val="8E94A0"/>
                </a:solidFill>
                <a:latin typeface="Consolas"/>
              </a:defRPr>
            </a:pPr>
            <a:r>
              <a:t>// Original: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1D9B56"/>
                </a:solidFill>
                <a:latin typeface="Consolas"/>
              </a:defRPr>
            </a:pPr>
            <a:r>
              <a:t>calculateItemTax(price, qty, cat = 'default')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8E94A0"/>
                </a:solidFill>
                <a:latin typeface="Consolas"/>
              </a:defRPr>
            </a:pPr>
            <a:r>
              <a:t>// Mutant: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DC3545"/>
                </a:solidFill>
                <a:latin typeface="Consolas"/>
              </a:defRPr>
            </a:pPr>
            <a:r>
              <a:t>calculateItemTax(price, qty, cat = "")</a:t>
            </a:r>
          </a:p>
          <a:p>
            <a:pPr algn="l">
              <a:spcAft>
                <a:spcPts val="300"/>
              </a:spcAft>
              <a:defRPr sz="3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1A1A2E"/>
                </a:solidFill>
                <a:latin typeface="Calibri"/>
              </a:rPr>
              <a:t>De ce a supravietuit: </a:t>
            </a:r>
            <a:r>
              <a:rPr sz="1100" b="0">
                <a:solidFill>
                  <a:srgbClr val="555B6E"/>
                </a:solidFill>
                <a:latin typeface="Calibri"/>
              </a:rPr>
              <a:t>"" este falsy in JavaScript.</a:t>
            </a:r>
          </a:p>
          <a:p>
            <a:pPr>
              <a:spcAft>
                <a:spcPts val="300"/>
              </a:spcAft>
            </a:pPr>
            <a:r>
              <a:rPr sz="1100" b="0">
                <a:solidFill>
                  <a:srgbClr val="555B6E"/>
                </a:solidFill>
                <a:latin typeface="Calibri"/>
              </a:rPr>
              <a:t>TAX_RATES[""] = undefined, iar fallback-ul </a:t>
            </a: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E87E1A"/>
                </a:solidFill>
                <a:latin typeface="Calibri"/>
              </a:rPr>
              <a:t>|| TAX_RATES.default</a:t>
            </a:r>
            <a:r>
              <a:rPr sz="1100" b="0">
                <a:solidFill>
                  <a:srgbClr val="555B6E"/>
                </a:solidFill>
                <a:latin typeface="Calibri"/>
              </a:rPr>
              <a:t> produce acelasi rezultat.</a:t>
            </a:r>
          </a:p>
          <a:p>
            <a:pPr algn="l">
              <a:spcAft>
                <a:spcPts val="300"/>
              </a:spcAft>
              <a:defRPr sz="200" b="0">
                <a:solidFill>
                  <a:srgbClr val="1A1A2E"/>
                </a:solidFill>
                <a:latin typeface="Calibri"/>
              </a:defRPr>
            </a:pPr>
          </a:p>
          <a:p>
            <a:pPr algn="l">
              <a:spcAft>
                <a:spcPts val="300"/>
              </a:spcAft>
              <a:defRPr sz="1100" b="1">
                <a:solidFill>
                  <a:srgbClr val="E87E1A"/>
                </a:solidFill>
                <a:latin typeface="Calibri"/>
              </a:defRPr>
            </a:pPr>
            <a:r>
              <a:t>Concluzie: MUTANT ECHIVALENT (nu poate fi omorat)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4297680"/>
            <a:ext cx="1152144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4389120"/>
            <a:ext cx="109728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C9D8A"/>
                </a:solidFill>
                <a:latin typeface="Calibri"/>
              </a:defRPr>
            </a:pPr>
            <a:r>
              <a:t>Strategia de analiza si omorare a mutantilor</a:t>
            </a:r>
          </a:p>
          <a:p>
            <a:pPr algn="l">
              <a:spcAft>
                <a:spcPts val="300"/>
              </a:spcAft>
              <a:defRPr sz="3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0C9D8A"/>
                </a:solidFill>
                <a:latin typeface="Calibri"/>
              </a:rPr>
              <a:t>1.</a:t>
            </a:r>
            <a:r>
              <a:rPr sz="1200" b="0">
                <a:solidFill>
                  <a:srgbClr val="555B6E"/>
                </a:solidFill>
                <a:latin typeface="Calibri"/>
              </a:rPr>
              <a:t> Rulam Stryker (npm run mutate) si analizam raportul HTML generat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0C9D8A"/>
                </a:solidFill>
                <a:latin typeface="Calibri"/>
              </a:rPr>
              <a:t>2.</a:t>
            </a:r>
            <a:r>
              <a:rPr sz="1200" b="0">
                <a:solidFill>
                  <a:srgbClr val="555B6E"/>
                </a:solidFill>
                <a:latin typeface="Calibri"/>
              </a:rPr>
              <a:t> Identificam mutantii supravietuitori si examinam codul mutat exact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0C9D8A"/>
                </a:solidFill>
                <a:latin typeface="Calibri"/>
              </a:rPr>
              <a:t>3.</a:t>
            </a:r>
            <a:r>
              <a:rPr sz="1200" b="0">
                <a:solidFill>
                  <a:srgbClr val="555B6E"/>
                </a:solidFill>
                <a:latin typeface="Calibri"/>
              </a:rPr>
              <a:t> Determinam daca mutantul e echivalent (comportament identic cu originalul) sau nu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0C9D8A"/>
                </a:solidFill>
                <a:latin typeface="Calibri"/>
              </a:rPr>
              <a:t>4.</a:t>
            </a:r>
            <a:r>
              <a:rPr sz="1200" b="0">
                <a:solidFill>
                  <a:srgbClr val="555B6E"/>
                </a:solidFill>
                <a:latin typeface="Calibri"/>
              </a:rPr>
              <a:t> Pentru mutantii neechivalenti: scriem teste targetate care detecteaza mutatia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0C9D8A"/>
                </a:solidFill>
                <a:latin typeface="Calibri"/>
              </a:rPr>
              <a:t>5.</a:t>
            </a:r>
            <a:r>
              <a:rPr sz="1200" b="0">
                <a:solidFill>
                  <a:srgbClr val="555B6E"/>
                </a:solidFill>
                <a:latin typeface="Calibri"/>
              </a:rPr>
              <a:t> Verificam ca testul nou omoara mutantul la urmatoarea rulare Stryker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2D6A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A1A2E"/>
                </a:solidFill>
                <a:latin typeface="Calibri"/>
              </a:defRPr>
            </a:pPr>
            <a:r>
              <a:t>Comparatie: Teste Proprii vs Teste AI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822960"/>
            <a:ext cx="2286000" cy="50800"/>
          </a:xfrm>
          <a:prstGeom prst="rect">
            <a:avLst/>
          </a:prstGeom>
          <a:solidFill>
            <a:srgbClr val="2D6A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5760" y="1097280"/>
            <a:ext cx="11430000" cy="3291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D6A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18872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D6ACF"/>
                </a:solidFill>
                <a:latin typeface="Consolas"/>
              </a:defRPr>
            </a:pPr>
            <a:r>
              <a:t>  Metrica                             Teste Proprii     Teste AI (ChatGPT)</a:t>
            </a:r>
          </a:p>
          <a:p>
            <a:pPr algn="l">
              <a:spcAft>
                <a:spcPts val="100"/>
              </a:spcAft>
              <a:defRPr sz="900" b="0">
                <a:solidFill>
                  <a:srgbClr val="DEE2E6"/>
                </a:solidFill>
                <a:latin typeface="Consolas"/>
              </a:defRPr>
            </a:pPr>
            <a:r>
              <a:t>  ───────────────────────────────────────────────────────────────────────────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555B6E"/>
                </a:solidFill>
                <a:latin typeface="Consolas"/>
              </a:defRPr>
            </a:pPr>
            <a:r>
              <a:t>  Total teste                                   309                    ~85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555B6E"/>
                </a:solidFill>
                <a:latin typeface="Consolas"/>
              </a:defRPr>
            </a:pPr>
            <a:r>
              <a:t>  Fisiere de test                                 5                      2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555B6E"/>
                </a:solidFill>
                <a:latin typeface="Consolas"/>
              </a:defRPr>
            </a:pPr>
            <a:r>
              <a:t>  Strategii acoperite              5 (EP,BVA,CC,PC,MT)           1 (generala)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555B6E"/>
                </a:solidFill>
                <a:latin typeface="Consolas"/>
              </a:defRPr>
            </a:pPr>
            <a:r>
              <a:t>  Statement coverage                           100%                    94%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555B6E"/>
                </a:solidFill>
                <a:latin typeface="Consolas"/>
              </a:defRPr>
            </a:pPr>
            <a:r>
              <a:t>  Branch coverage                            98.91%                    78%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555B6E"/>
                </a:solidFill>
                <a:latin typeface="Consolas"/>
              </a:defRPr>
            </a:pPr>
            <a:r>
              <a:t>  Function coverage                            100%                   100%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555B6E"/>
                </a:solidFill>
                <a:latin typeface="Consolas"/>
              </a:defRPr>
            </a:pPr>
            <a:r>
              <a:t>  Mutation score                             90.32%                   ~72%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555B6E"/>
                </a:solidFill>
                <a:latin typeface="Consolas"/>
              </a:defRPr>
            </a:pPr>
            <a:r>
              <a:t>  Organizare pe strategii                        DA                     NU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555B6E"/>
                </a:solidFill>
                <a:latin typeface="Consolas"/>
              </a:defRPr>
            </a:pPr>
            <a:r>
              <a:t>  Teste mutation-killing                         DA                     NU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4572000"/>
            <a:ext cx="557784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D9B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4663440"/>
            <a:ext cx="51206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D9B56"/>
                </a:solidFill>
                <a:latin typeface="Calibri"/>
              </a:defRPr>
            </a:pPr>
            <a:r>
              <a:t>Avantaje teste proprii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555B6E"/>
                </a:solidFill>
                <a:latin typeface="Calibri"/>
              </a:defRPr>
            </a:pPr>
            <a:r>
              <a:t>  ✓  Organizare clara pe 5 strategii de testare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555B6E"/>
                </a:solidFill>
                <a:latin typeface="Calibri"/>
              </a:defRPr>
            </a:pPr>
            <a:r>
              <a:t>  ✓  Acoperire sistematica a conditiilor compuse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555B6E"/>
                </a:solidFill>
                <a:latin typeface="Calibri"/>
              </a:defRPr>
            </a:pPr>
            <a:r>
              <a:t>  ✓  Teste targetate pentru mutation testing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555B6E"/>
                </a:solidFill>
                <a:latin typeface="Calibri"/>
              </a:defRPr>
            </a:pPr>
            <a:r>
              <a:t>  ✓  Documentatie si comentarii explicative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4572000"/>
            <a:ext cx="566928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D6A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4663440"/>
            <a:ext cx="52120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D6ACF"/>
                </a:solidFill>
                <a:latin typeface="Calibri"/>
              </a:defRPr>
            </a:pPr>
            <a:r>
              <a:t>Avantaje teste AI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555B6E"/>
                </a:solidFill>
                <a:latin typeface="Calibri"/>
              </a:defRPr>
            </a:pPr>
            <a:r>
              <a:t>  ✓  Viteza de generare (~85 teste in cateva secunde)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555B6E"/>
                </a:solidFill>
                <a:latin typeface="Calibri"/>
              </a:defRPr>
            </a:pPr>
            <a:r>
              <a:t>  ✓  Acoperire initiala buna fara efort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555B6E"/>
                </a:solidFill>
                <a:latin typeface="Calibri"/>
              </a:defRPr>
            </a:pPr>
            <a:r>
              <a:t>  ✓  Descoperire rapida a cazurilor de baza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555B6E"/>
                </a:solidFill>
                <a:latin typeface="Calibri"/>
              </a:defRPr>
            </a:pPr>
            <a:r>
              <a:t>  ✓  Util ca punct de plecare pentru teste manuale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0C9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A1A2E"/>
                </a:solidFill>
                <a:latin typeface="Calibri"/>
              </a:defRPr>
            </a:pPr>
            <a:r>
              <a:t>Concluzii si Rezultate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822960"/>
            <a:ext cx="2286000" cy="50800"/>
          </a:xfrm>
          <a:prstGeom prst="rect">
            <a:avLst/>
          </a:prstGeom>
          <a:solidFill>
            <a:srgbClr val="0C9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051560"/>
            <a:ext cx="2697480" cy="12344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C9D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2697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0C9D8A"/>
                </a:solidFill>
                <a:latin typeface="Calibri"/>
              </a:defRPr>
            </a:pPr>
            <a:r>
              <a:t>309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00200"/>
            <a:ext cx="2697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A1A2E"/>
                </a:solidFill>
                <a:latin typeface="Calibri"/>
              </a:defRPr>
            </a:pPr>
            <a:r>
              <a:t>teste unitare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74519"/>
            <a:ext cx="2697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8E94A0"/>
                </a:solidFill>
                <a:latin typeface="Calibri"/>
              </a:defRPr>
            </a:pPr>
            <a:r>
              <a:t>5 suite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37560" y="1051560"/>
            <a:ext cx="2697480" cy="12344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D9B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37560" y="1097280"/>
            <a:ext cx="2697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1D9B56"/>
                </a:solidFill>
                <a:latin typeface="Calibri"/>
              </a:defRPr>
            </a:pPr>
            <a:r>
              <a:t>100%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1600200"/>
            <a:ext cx="2697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A1A2E"/>
                </a:solidFill>
                <a:latin typeface="Calibri"/>
              </a:defRPr>
            </a:pPr>
            <a:r>
              <a:t>statements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1874519"/>
            <a:ext cx="2697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8E94A0"/>
                </a:solidFill>
                <a:latin typeface="Calibri"/>
              </a:defRPr>
            </a:pPr>
            <a:r>
              <a:t>224/224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051560"/>
            <a:ext cx="2697480" cy="12344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87E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0" y="1097280"/>
            <a:ext cx="2697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E87E1A"/>
                </a:solidFill>
                <a:latin typeface="Calibri"/>
              </a:defRPr>
            </a:pPr>
            <a:r>
              <a:t>98.91%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1600200"/>
            <a:ext cx="2697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A1A2E"/>
                </a:solidFill>
                <a:latin typeface="Calibri"/>
              </a:defRPr>
            </a:pPr>
            <a:r>
              <a:t>branches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1874519"/>
            <a:ext cx="2697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8E94A0"/>
                </a:solidFill>
                <a:latin typeface="Calibri"/>
              </a:defRPr>
            </a:pPr>
            <a:r>
              <a:t>182/184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98280" y="1051560"/>
            <a:ext cx="2697480" cy="12344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C35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98280" y="1097280"/>
            <a:ext cx="2697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DC3545"/>
                </a:solidFill>
                <a:latin typeface="Calibri"/>
              </a:defRPr>
            </a:pPr>
            <a:r>
              <a:t>90.32%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98280" y="1600200"/>
            <a:ext cx="2697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A1A2E"/>
                </a:solidFill>
                <a:latin typeface="Calibri"/>
              </a:defRPr>
            </a:pPr>
            <a:r>
              <a:t>mutation score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98280" y="1874519"/>
            <a:ext cx="2697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8E94A0"/>
                </a:solidFill>
                <a:latin typeface="Calibri"/>
              </a:defRPr>
            </a:pPr>
            <a:r>
              <a:t>511/568 killed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2514600"/>
            <a:ext cx="777240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C9D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2606040"/>
            <a:ext cx="73152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C9D8A"/>
                </a:solidFill>
                <a:latin typeface="Calibri"/>
              </a:defRPr>
            </a:pPr>
            <a:r>
              <a:t>Ce am invatat</a:t>
            </a:r>
          </a:p>
          <a:p>
            <a:pPr algn="l">
              <a:spcAft>
                <a:spcPts val="300"/>
              </a:spcAft>
              <a:defRPr sz="400" b="0">
                <a:solidFill>
                  <a:srgbClr val="1A1A2E"/>
                </a:solidFill>
                <a:latin typeface="Calibri"/>
              </a:defRPr>
            </a:pPr>
          </a:p>
          <a:p>
            <a:pPr algn="l">
              <a:spcAft>
                <a:spcPts val="400"/>
              </a:spcAft>
              <a:defRPr sz="1200" b="0">
                <a:solidFill>
                  <a:srgbClr val="555B6E"/>
                </a:solidFill>
                <a:latin typeface="Calibri"/>
              </a:defRPr>
            </a:pPr>
            <a:r>
              <a:t>  •  Partitionarea in clase de echivalenta reduce numarul de teste pastrand acoperirea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555B6E"/>
                </a:solidFill>
                <a:latin typeface="Calibri"/>
              </a:defRPr>
            </a:pPr>
            <a:r>
              <a:t>  •  Analiza valorilor de frontiera detecteaza erori off-by-one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555B6E"/>
                </a:solidFill>
                <a:latin typeface="Calibri"/>
              </a:defRPr>
            </a:pPr>
            <a:r>
              <a:t>  •  Acoperirea la nivel de conditie e mai puternica decat cea de decizie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555B6E"/>
                </a:solidFill>
                <a:latin typeface="Calibri"/>
              </a:defRPr>
            </a:pPr>
            <a:r>
              <a:t>  •  Mutation testing valideaza calitatea testelor, nu doar cantitatea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555B6E"/>
                </a:solidFill>
                <a:latin typeface="Calibri"/>
              </a:defRPr>
            </a:pPr>
            <a:r>
              <a:t>  •  Testele AI sunt utile ca punct de plecare, dar necesita rafinare manuala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555B6E"/>
                </a:solidFill>
                <a:latin typeface="Calibri"/>
              </a:defRPr>
            </a:pPr>
            <a:r>
              <a:t>  •  Un scor de mutatie &gt;90% indica o suita de teste de calitate ridicata</a:t>
            </a:r>
          </a:p>
          <a:p>
            <a:pPr algn="l">
              <a:spcAft>
                <a:spcPts val="300"/>
              </a:spcAft>
              <a:defRPr sz="600" b="0">
                <a:solidFill>
                  <a:srgbClr val="1A1A2E"/>
                </a:solidFill>
                <a:latin typeface="Calibri"/>
              </a:defRPr>
            </a:pPr>
          </a:p>
          <a:p>
            <a:pPr algn="l">
              <a:spcAft>
                <a:spcPts val="300"/>
              </a:spcAft>
              <a:defRPr sz="1300" b="1">
                <a:solidFill>
                  <a:srgbClr val="0C9D8A"/>
                </a:solidFill>
                <a:latin typeface="Calibri"/>
              </a:defRPr>
            </a:pPr>
            <a:r>
              <a:t>Referinte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8E94A0"/>
                </a:solidFill>
                <a:latin typeface="Calibri"/>
              </a:defRPr>
            </a:pPr>
            <a:r>
              <a:t>  [1] Jest Documentation — jestjs.io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8E94A0"/>
                </a:solidFill>
                <a:latin typeface="Calibri"/>
              </a:defRPr>
            </a:pPr>
            <a:r>
              <a:t>  [2] Stryker Mutator — stryker-mutator.io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8E94A0"/>
                </a:solidFill>
                <a:latin typeface="Calibri"/>
              </a:defRPr>
            </a:pPr>
            <a:r>
              <a:t>  [3] Aniche, M. — Effective Software Testing (2022)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8E94A0"/>
                </a:solidFill>
                <a:latin typeface="Calibri"/>
              </a:defRPr>
            </a:pPr>
            <a:r>
              <a:t>  [4] Khorikov, V. — Unit Testing Principles, Practices, and Patterns (2020)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321040" y="2514600"/>
            <a:ext cx="365760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03920" y="25603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E94A0"/>
                </a:solidFill>
                <a:latin typeface="Calibri"/>
              </a:defRPr>
            </a:pPr>
            <a:r>
              <a:t>GitHub Commits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